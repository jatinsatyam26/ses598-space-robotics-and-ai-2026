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2926080"/>
          </a:xfrm>
          <a:prstGeom prst="rect">
            <a:avLst/>
          </a:prstGeom>
          <a:solidFill>
            <a:srgbClr val="1A1A1A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Path-Conditioned Next-Best-View Planning for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Cooperative Aerial-Ground Mars Scouting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a 3D Gaussian Splatting Substrate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Satyam   |   SES 598 Space Robotics and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Manufacturing Systems and Networks   ·   Arizona State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The problem with Ingenuity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moves meters per sol. Each traverse requires hours of human-in-the-loop planning. Ingenuity flew on commanded waypoints — not as an autonomous teammate.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25196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005840"/>
            <a:ext cx="425196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The natural question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435608"/>
            <a:ext cx="397764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drone is given agency: how should it pick its next viewpoint, what should it be looking for, and how should that decision be informed by the rover's plan?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141732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841248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Three converging lines of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813816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Active 3DGS: per-Gaussian uncertainty as a usable view-selection signal (ActiveGS, FisherRF, RT-GuIDE)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Cooperative aerial-ground IPP: path-conditioning as the standard coupling mechanism (Traversing Mars, Seeker-Supporter)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Planetary traversability: uncertainty-aware rover planning (LSRC field-deployed at NASA Ames + White Sands, 2026)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sits at the intersection of all three lines.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55448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Cooperative aerial-ground scouting on Mars-analog terrain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8138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drone surveys terrain ahead of a rover, building a 3DGS representation. The rover consumes a traversability costmap derived from the splat field. Cells with high per-Gaussian reconstruction uncertainty → high traversability uncertainty → rover prefers to avoid or request re-survey.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841248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97480"/>
            <a:ext cx="841248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0720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The view-selection 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8138160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candidate viewpoint maximises expected reduction in traversability uncertainty along the rover's planned path?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solidFill>
            <a:srgbClr val="1E1E1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v* = argmax  u(v)  =  Σ  P(c ∈ r) · Δσ²_c(v)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Cross-agent: the path r belongs to the rover, not the drone selecting the 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Work — Four Clusters, One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160020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6908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Active 3DGS NBV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ActiveGS (RA-L 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FisherRF (ECCV 2024)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AG-SLAM, RT-GuIDE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Per-Gaussian uncertainty methods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993392"/>
            <a:ext cx="38496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29968"/>
            <a:ext cx="3849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UAV outdoor demos; coverage-driven gain; no traversability semantics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4069080" cy="160020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005840"/>
            <a:ext cx="406908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097280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Cross-Agent 3DGS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7448" y="1389888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RaEM (arXiv 2024)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Khass et al. (Oct 2025)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1993392"/>
            <a:ext cx="38496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029968"/>
            <a:ext cx="3849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Indoor, collision-risk; discrete-waypoint masking; single-agent path, not rover's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406908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26080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Cooperative Mars IPP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218688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Mars (RA-L 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Seeker-Supporter cluster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3822192"/>
            <a:ext cx="38496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58768"/>
            <a:ext cx="3849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Follower-path-aware utility; occupancy/GP map substrate, not 3DGS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4069080" cy="1600200"/>
          </a:xfrm>
          <a:prstGeom prst="rect">
            <a:avLst/>
          </a:prstGeom>
          <a:solidFill>
            <a:srgbClr val="1C1C1C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834640"/>
            <a:ext cx="406908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926080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Planetary Traversability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218688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 et al. (RA-L 2024)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LSRC (Feb 2026, real hardware)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3822192"/>
            <a:ext cx="38496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858768"/>
            <a:ext cx="38496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Uncertainty-aware rover planning; no 3DGS, no aerial visual scout, no active NBV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closes one piece. The specific combination — 3DGS + aerial scout + traversability + Mars-analog — remains open in the surveyed literature.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Contribution: A Targeted Specialisation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What this work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8138160" cy="484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recently published methods to a substrate + sensing modality + task semantics combination not yet covered in the surveyed literature.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069080" cy="109728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21992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3DGS Substrate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32888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RaEM + Khass apply 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with traversability semantics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2148840"/>
            <a:ext cx="4069080" cy="109728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221992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Aerial Visual Scout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7448" y="2532888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Mars does 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on a 3DGS map, with active NBV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4069080" cy="109728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502152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Traversability Semantics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813048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LSRC does this on real hardware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per-Gaussian uncertainty routed 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429000"/>
            <a:ext cx="4069080" cy="1097280"/>
          </a:xfrm>
          <a:prstGeom prst="rect">
            <a:avLst/>
          </a:prstGeom>
          <a:solidFill>
            <a:srgbClr val="1C1C1C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3502152"/>
            <a:ext cx="3849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Mars-Analog Setting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3813048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HiRISE DTM of Jezero Crater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methodology (MARTIAN, Bland)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ingredient is precedented. The recipe — as far as we can tell — is not.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 (Full Architecture)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070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Drone Survey &amp; 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X500 quadrotor · MulticopterVelocityControl · adaptive survey pattern driven by NBV planner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06070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Online 3DGS Front-End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7448" y="131673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MonoGS or DUSt3R/MASt3R · pilot uses offline COLMAP + splatfacto as stand-in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6654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Per-Gaussian Uncertainty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32257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Photometric Uncertainty (plug-and-play) · pilot uses opacity + scale proxy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06654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Path-Conditioned NBV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232257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function (Sec. V) · inputs: 3DGS field + rover path + candidate viewpoints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7238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Traversability Projection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2841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Per-Gaussian uncertainty → 2.5D height-map grid · bridge from splat domain to rover costmap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40690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3072384"/>
            <a:ext cx="38496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Uncertainty-Aware Rover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7448" y="3328416"/>
            <a:ext cx="38496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A*/D* with per-cell uncertainty as soft cost · wait-for-more-info when path is uncertain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 → 3DGS → Uncertainty → Gain → NBV → Rover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experiment exercises the Gain function + Per-Gaussian Uncertainty layers. Remaining components are described and treated as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Path-Conditioned Gain Function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46304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Soft path-likelihood prior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941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 ∈ r) = exp( −d(c,r)² / 2τ² 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d(c,r) = perpendicular distance from cell c to rover trajectory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corridor width ≈ rover safety envelope + replanning slack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251960" cy="146304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005840"/>
            <a:ext cx="425196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Path-conditioned gain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435608"/>
            <a:ext cx="3977640" cy="941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u(v) = Σ_c  P(c ∈ r) · Δσ²_c(v)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Δσ²_c(v) = expected uncertainty reduction if drone observes from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selects v* = argmax_v u(v)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74320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27432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15768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RaEM (special case)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035808"/>
            <a:ext cx="246888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P(c) = 𝟙[min_k ‖c−w_k‖ &lt; 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sphere around each waypoint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Eq. (2) recovers this with degenerate τ→0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606040"/>
            <a:ext cx="274320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606040"/>
            <a:ext cx="27432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715768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Khass (related)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035808"/>
            <a:ext cx="246888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per-Gaussian along same agent's path using Fisher information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cell domain, rover's path, traversability semantics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265176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606040"/>
            <a:ext cx="265176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71576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Our generalisation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035808"/>
            <a:ext cx="237744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corridor prior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Cross-agent: rover path → drone gain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Traversability uncertainty, not Fisher info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GP-UCB extension: u_UCB(v) = Σ_c P(c ∈ r)·[μ_c(v) + β^½·σ_c(v)]  —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Experiment —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8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256032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Terrain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2039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HiRISE Digital Terrain Model · Jezero Crater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source as JPL Perseverance operations pipeline)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 patch · 1 m/pixel resolution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MOLA+HiRISE fused DTM · 513×513 heightmap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Blender-rendered Gazebo world with: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Mars-analog rock obstacles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Mars solar irradiance lighting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DARTSim physics 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251960" cy="118872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005840"/>
            <a:ext cx="425196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Reconstruction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435608"/>
            <a:ext cx="3977640" cy="667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 sparse SfM  →  Nerfstudio splatfacto trainer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~14,000 Gaussians covering the area of interest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4251960" cy="123444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331720"/>
            <a:ext cx="425196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41448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Pilot scope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761488"/>
            <a:ext cx="39776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Per-Gaussian uncertainty visualisation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Path-conditioned vs uniform viewpoint gain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counterpart of online front-end — deliberately scoped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192024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14k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65760" y="42519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Gaussians reconstructed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703320"/>
            <a:ext cx="192024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37947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423160" y="42519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waypoints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(8m AGL)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703320"/>
            <a:ext cx="192024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7947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50×50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480560" y="42519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gain eval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3703320"/>
            <a:ext cx="205740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794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537960" y="425196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Result 1 — Per-Gaussian Uncertainty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9 / 12</a:t>
            </a:r>
            <a:endParaRPr lang="en-US" sz="900" dirty="0"/>
          </a:p>
        </p:txBody>
      </p:sp>
      <p:pic>
        <p:nvPicPr>
          <p:cNvPr id="5" name="Image 0" descr="/home/jatin-satyam/ses598-space-robotics-and-ai-2026/midterm_and_final_project/report/figures/fig1_uncertain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0292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005840"/>
            <a:ext cx="320040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32120" y="1005840"/>
            <a:ext cx="320040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11556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Uncertainty proxy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435608"/>
            <a:ext cx="292608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opacity-based + covariance-volume proxy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opacity → high uncertainty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 → under-constrained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32120" y="2514600"/>
            <a:ext cx="3200400" cy="128016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2514600"/>
            <a:ext cx="32004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6243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What the figure shows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0" y="2944368"/>
            <a:ext cx="2926080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core (center-right) = certain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periphery (edges, turn-arounds) = uncertain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directly reflects survey coverage geometry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3913632"/>
            <a:ext cx="3200400" cy="704088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3913632"/>
            <a:ext cx="320040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402336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Upgrade path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4316095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Photometric Uncertainty is plug-and-play — post-hoc, no retraining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Result 2 — Path-Conditioned vs Uniform Gain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10 / 12</a:t>
            </a:r>
            <a:endParaRPr lang="en-US" sz="900" dirty="0"/>
          </a:p>
        </p:txBody>
      </p:sp>
      <p:pic>
        <p:nvPicPr>
          <p:cNvPr id="5" name="Image 0" descr="/home/jatin-satyam/ses598-space-robotics-and-ai-2026/midterm_and_final_project/report/figures/fig2_g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124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206240"/>
            <a:ext cx="2560320" cy="93980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297680"/>
            <a:ext cx="2560320" cy="42748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VP09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" y="4672584"/>
            <a:ext cx="2560320" cy="295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Path-conditioned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→ (-1.5, 2.0)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08960" y="4206240"/>
            <a:ext cx="2560320" cy="940435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297680"/>
            <a:ext cx="2560320" cy="42748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VP04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108960" y="4672584"/>
            <a:ext cx="2560320" cy="295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→ (0, 2.0)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187190"/>
            <a:ext cx="2926715" cy="95885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4297680"/>
            <a:ext cx="2926080" cy="42748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852160" y="4672584"/>
            <a:ext cx="2926080" cy="295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differs = TRUE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Path-conditioning is not a reparameterisation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Environment &amp; Demonstration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11 / 12</a:t>
            </a:r>
            <a:endParaRPr lang="en-US" sz="900" dirty="0"/>
          </a:p>
        </p:txBody>
      </p:sp>
      <p:pic>
        <p:nvPicPr>
          <p:cNvPr id="5" name="Image 0" descr="/home/jatin-satyam/ses598-space-robotics-and-ai-2026/midterm_and_final_project/report/figures/sim_gazebo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2834640" cy="1920240"/>
          </a:xfrm>
          <a:prstGeom prst="rect">
            <a:avLst/>
          </a:prstGeom>
        </p:spPr>
      </p:pic>
      <p:pic>
        <p:nvPicPr>
          <p:cNvPr id="6" name="Image 1" descr="/home/jatin-satyam/ses598-space-robotics-and-ai-2026/midterm_and_final_project/report/figures/sim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2834640" cy="1920240"/>
          </a:xfrm>
          <a:prstGeom prst="rect">
            <a:avLst/>
          </a:prstGeom>
        </p:spPr>
      </p:pic>
      <p:pic>
        <p:nvPicPr>
          <p:cNvPr id="7" name="Image 2" descr="/home/jatin-satyam/ses598-space-robotics-and-ai-2026/midterm_and_final_project/report/figures/sim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2743200" cy="1920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" y="29718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start: X500 drone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rover on Jezero terrain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200400" y="29718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 RUNNING: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SURVEY · Rover NAVIGATING · TRN active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172200" y="29718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2C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complete: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2C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18/18 · 0.73m from dome center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365760" y="3474720"/>
            <a:ext cx="8412480" cy="1234440"/>
          </a:xfrm>
          <a:prstGeom prst="rect">
            <a:avLst/>
          </a:prstGeom>
          <a:solidFill>
            <a:srgbClr val="1C1C1C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65760" y="3474720"/>
            <a:ext cx="841248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" y="358444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Path to real deployment via PX4 Autopilot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2920" y="3904488"/>
            <a:ext cx="813816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control layer uses uXRCE-DDS — identical bridge used in PX4 production hardware stack.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SITL with Pixhawk 6C preserves same DDS namespace + mission_config.yaml.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 mode arming + 10 Hz TrajectorySetpoint sequence is identical between SITL and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</a:rPr>
              <a:t>12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4572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ED1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What was demonstrated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8138160" cy="6675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path-conditioned gain function that generalises RaEM's discrete-waypoint masking to a soft path-likelihood prior, applied to a HiRISE-derived 3DGS reconstruction of Jezero Crater. Path-conditioning shifts the selected viewpoint relative to a uniform-weight baseline — the pilot shows the specialisation is grounded in something concrete.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3988435" cy="1610995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393192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414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Honest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65760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Sim-only — no real hardware (LSRC, ActiveGS, Traversing Mars all have real demos)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Offline 3DGS pipeline — online front-end not implemented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Single fixed rover trajectory — probabilistic plans not exercised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Per-Gaussian proxy is weak — calibrated UE is plug-and-play upgrade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4343400" cy="137160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331720"/>
            <a:ext cx="4343400" cy="4572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41448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CD32"/>
                </a:solidFill>
                <a:latin typeface="Arial" panose="02080604020202020204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761488"/>
            <a:ext cx="4069080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 MonoGS / MASt3R front-end on RTX 4060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Upgrade to Predictive Photometric Uncertainty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Wrap NBV planner in ROS2 node + integrate with flight 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Crazyflie / Tello + TurtleBot tabletop real-hardware demo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Multi-drone extension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79240"/>
            <a:ext cx="20116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70680"/>
            <a:ext cx="2011680" cy="4526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65760" y="4573016"/>
            <a:ext cx="2011680" cy="312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cap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specialisation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4062730"/>
            <a:ext cx="20116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4170680"/>
            <a:ext cx="2011680" cy="4526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560320" y="4573016"/>
            <a:ext cx="2011680" cy="312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062730"/>
            <a:ext cx="201168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32C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120515"/>
            <a:ext cx="2011680" cy="4526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2C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7pp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663440" y="4573016"/>
            <a:ext cx="2011680" cy="312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IEEE-format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4062730"/>
            <a:ext cx="1920240" cy="822960"/>
          </a:xfrm>
          <a:prstGeom prst="rect">
            <a:avLst/>
          </a:prstGeom>
          <a:solidFill>
            <a:srgbClr val="1C1C1C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170680"/>
            <a:ext cx="1920240" cy="45262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812280" y="4531741"/>
            <a:ext cx="1920240" cy="312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8569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ingredient is precedented. The recipe, as far as we can tell, is not.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7777</Words>
  <Application>WPS Presentation</Application>
  <PresentationFormat>On-screen Show (16:9)</PresentationFormat>
  <Paragraphs>331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Arial</vt:lpstr>
      <vt:lpstr>Arial</vt:lpstr>
      <vt:lpstr>Consolas</vt:lpstr>
      <vt:lpstr>Consolas</vt:lpstr>
      <vt:lpstr>Consolas</vt:lpstr>
      <vt:lpstr>DejaVu Sans</vt:lpstr>
      <vt:lpstr>微软雅黑</vt:lpstr>
      <vt:lpstr>Droid Sans Fallback</vt:lpstr>
      <vt:lpstr>Arial Unicode MS</vt:lpstr>
      <vt:lpstr>URW Bookman</vt:lpstr>
      <vt:lpstr>Noto Sans CJK HK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jatin-satyam</cp:lastModifiedBy>
  <cp:revision>2</cp:revision>
  <dcterms:created xsi:type="dcterms:W3CDTF">2026-05-08T20:40:33Z</dcterms:created>
  <dcterms:modified xsi:type="dcterms:W3CDTF">2026-05-08T20:40:33Z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